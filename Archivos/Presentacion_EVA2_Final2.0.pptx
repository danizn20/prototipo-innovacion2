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662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3" name="Text 1"/>
          <p:cNvSpPr/>
          <p:nvPr/>
        </p:nvSpPr>
        <p:spPr>
          <a:xfrm>
            <a:off x="9646920" y="6400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1">
                <a:solidFill>
                  <a:srgbClr val="9CA3AF"/>
                </a:solidFill>
              </a:rPr>
              <a:t>Evaluacion 2</a:t>
            </a:r>
            <a:endParaRPr lang="es-CL" sz="800" noProof="1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noProof="1">
                <a:solidFill>
                  <a:srgbClr val="9CA3AF"/>
                </a:solidFill>
              </a:rPr>
              <a:t>PORTADA</a:t>
            </a:r>
            <a:endParaRPr lang="es-CL" sz="800" noProof="1"/>
          </a:p>
        </p:txBody>
      </p:sp>
      <p:pic>
        <p:nvPicPr>
          <p:cNvPr id="5" name="Image 0" descr="/mnt/data/extracted_ppt/ppt/media/image-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9111"/>
            <a:ext cx="1097280" cy="301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Evaluacion 2</a:t>
            </a:r>
            <a:endParaRPr lang="es-CL" sz="3000" noProof="1"/>
          </a:p>
        </p:txBody>
      </p:sp>
      <p:sp>
        <p:nvSpPr>
          <p:cNvPr id="7" name="Text 4"/>
          <p:cNvSpPr/>
          <p:nvPr/>
        </p:nvSpPr>
        <p:spPr>
          <a:xfrm>
            <a:off x="795528" y="16459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300" b="1" noProof="1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Innovacion y Emprendimiento II</a:t>
            </a:r>
            <a:endParaRPr lang="es-CL" sz="2300" noProof="1"/>
          </a:p>
        </p:txBody>
      </p:sp>
      <p:sp>
        <p:nvSpPr>
          <p:cNvPr id="8" name="Text 5"/>
          <p:cNvSpPr/>
          <p:nvPr/>
        </p:nvSpPr>
        <p:spPr>
          <a:xfrm>
            <a:off x="804672" y="22402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CL" sz="1350" noProof="1"/>
          </a:p>
        </p:txBody>
      </p:sp>
      <p:sp>
        <p:nvSpPr>
          <p:cNvPr id="9" name="Shape 6"/>
          <p:cNvSpPr/>
          <p:nvPr/>
        </p:nvSpPr>
        <p:spPr>
          <a:xfrm>
            <a:off x="804672" y="3017520"/>
            <a:ext cx="466344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0" name="Text 7"/>
          <p:cNvSpPr/>
          <p:nvPr/>
        </p:nvSpPr>
        <p:spPr>
          <a:xfrm>
            <a:off x="804672" y="329184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s-CL" sz="1400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enfocado en una solucion simple para micro y pequeñas organizaciones de La Araucania.</a:t>
            </a:r>
            <a:endParaRPr lang="es-CL" sz="1400" noProof="1"/>
          </a:p>
        </p:txBody>
      </p:sp>
      <p:sp>
        <p:nvSpPr>
          <p:cNvPr id="11" name="Text 8"/>
          <p:cNvSpPr/>
          <p:nvPr/>
        </p:nvSpPr>
        <p:spPr>
          <a:xfrm>
            <a:off x="804672" y="5440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1">
                <a:solidFill>
                  <a:srgbClr val="111827"/>
                </a:solidFill>
              </a:rPr>
              <a:t>Seccion: FGIE02</a:t>
            </a:r>
            <a:endParaRPr lang="es-CL" sz="1100" noProof="1"/>
          </a:p>
        </p:txBody>
      </p:sp>
      <p:sp>
        <p:nvSpPr>
          <p:cNvPr id="12" name="Text 9"/>
          <p:cNvSpPr/>
          <p:nvPr/>
        </p:nvSpPr>
        <p:spPr>
          <a:xfrm>
            <a:off x="804672" y="57150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1">
                <a:solidFill>
                  <a:srgbClr val="6B7280"/>
                </a:solidFill>
              </a:rPr>
              <a:t>Integrantes: Daniel Castillo, Sebastian Epulef, Ignacio Huiza, Nicolas Cabullanca y Raul Matus</a:t>
            </a:r>
            <a:endParaRPr lang="es-CL" sz="950" noProof="1"/>
          </a:p>
        </p:txBody>
      </p:sp>
      <p:sp>
        <p:nvSpPr>
          <p:cNvPr id="13" name="Text 10"/>
          <p:cNvSpPr/>
          <p:nvPr/>
        </p:nvSpPr>
        <p:spPr>
          <a:xfrm>
            <a:off x="804672" y="5989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1">
                <a:solidFill>
                  <a:srgbClr val="9CA3AF"/>
                </a:solidFill>
              </a:rPr>
              <a:t>Docente: Andrea Unger Vergara</a:t>
            </a:r>
            <a:endParaRPr lang="es-CL" sz="9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3" name="Text 1"/>
          <p:cNvSpPr/>
          <p:nvPr/>
        </p:nvSpPr>
        <p:spPr>
          <a:xfrm>
            <a:off x="9646920" y="6400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1">
                <a:solidFill>
                  <a:srgbClr val="9CA3AF"/>
                </a:solidFill>
              </a:rPr>
              <a:t>Evaluacion 2</a:t>
            </a:r>
            <a:endParaRPr lang="es-CL" sz="800" noProof="1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noProof="1">
                <a:solidFill>
                  <a:srgbClr val="9CA3AF"/>
                </a:solidFill>
              </a:rPr>
              <a:t>INTRODUCCION</a:t>
            </a:r>
            <a:endParaRPr lang="es-CL" sz="800" noProof="1"/>
          </a:p>
        </p:txBody>
      </p:sp>
      <p:pic>
        <p:nvPicPr>
          <p:cNvPr id="5" name="Image 0" descr="/mnt/data/extracted_ppt/ppt/media/image-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9111"/>
            <a:ext cx="1097280" cy="301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4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Introduccion</a:t>
            </a:r>
            <a:endParaRPr lang="es-CL" sz="2800" noProof="1"/>
          </a:p>
        </p:txBody>
      </p:sp>
      <p:sp>
        <p:nvSpPr>
          <p:cNvPr id="7" name="Text 4"/>
          <p:cNvSpPr/>
          <p:nvPr/>
        </p:nvSpPr>
        <p:spPr>
          <a:xfrm>
            <a:off x="704088" y="8412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noProof="1">
                <a:solidFill>
                  <a:srgbClr val="6B7280"/>
                </a:solidFill>
              </a:rPr>
              <a:t>Contexto general del trabajo y sentido de la propuesta.</a:t>
            </a:r>
            <a:endParaRPr lang="es-CL" sz="1200" noProof="1"/>
          </a:p>
        </p:txBody>
      </p:sp>
      <p:sp>
        <p:nvSpPr>
          <p:cNvPr id="8" name="Text 5"/>
          <p:cNvSpPr/>
          <p:nvPr/>
        </p:nvSpPr>
        <p:spPr>
          <a:xfrm>
            <a:off x="804672" y="1325880"/>
            <a:ext cx="6309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s-CL" sz="1580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aborda una dificultad presente en micro y pequeñas organizaciones de La Araucania: muchas generan datos de ventas, inventario y compras, pero no siempre logran ordenarlos ni usarlos para tomar mejores decisiones.</a:t>
            </a:r>
            <a:endParaRPr lang="es-CL" sz="1580" noProof="1"/>
          </a:p>
        </p:txBody>
      </p:sp>
      <p:sp>
        <p:nvSpPr>
          <p:cNvPr id="9" name="Shape 6"/>
          <p:cNvSpPr/>
          <p:nvPr/>
        </p:nvSpPr>
        <p:spPr>
          <a:xfrm>
            <a:off x="859536" y="2862072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0" name="Text 7"/>
          <p:cNvSpPr/>
          <p:nvPr/>
        </p:nvSpPr>
        <p:spPr>
          <a:xfrm>
            <a:off x="1115568" y="27889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L" sz="1350" noProof="1">
                <a:solidFill>
                  <a:srgbClr val="111827"/>
                </a:solidFill>
              </a:rPr>
              <a:t>El usuario registra informacion, pero de forma manual o dispersa.</a:t>
            </a:r>
            <a:endParaRPr lang="es-CL" sz="1350" noProof="1"/>
          </a:p>
        </p:txBody>
      </p:sp>
      <p:sp>
        <p:nvSpPr>
          <p:cNvPr id="11" name="Shape 8"/>
          <p:cNvSpPr/>
          <p:nvPr/>
        </p:nvSpPr>
        <p:spPr>
          <a:xfrm>
            <a:off x="859536" y="3383280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2" name="Text 9"/>
          <p:cNvSpPr/>
          <p:nvPr/>
        </p:nvSpPr>
        <p:spPr>
          <a:xfrm>
            <a:off x="923544" y="32735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L" sz="1350" noProof="1">
                <a:solidFill>
                  <a:srgbClr val="111827"/>
                </a:solidFill>
              </a:rPr>
              <a:t>La conectividad y la de informacion digital dificultan adoptar sistemas complejos.</a:t>
            </a:r>
            <a:endParaRPr lang="es-CL" sz="1350" noProof="1"/>
          </a:p>
        </p:txBody>
      </p:sp>
      <p:sp>
        <p:nvSpPr>
          <p:cNvPr id="13" name="Shape 10"/>
          <p:cNvSpPr/>
          <p:nvPr/>
        </p:nvSpPr>
        <p:spPr>
          <a:xfrm>
            <a:off x="859536" y="3904488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4" name="Text 11"/>
          <p:cNvSpPr/>
          <p:nvPr/>
        </p:nvSpPr>
        <p:spPr>
          <a:xfrm>
            <a:off x="1115568" y="383133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L" sz="1350" noProof="1">
                <a:solidFill>
                  <a:srgbClr val="111827"/>
                </a:solidFill>
              </a:rPr>
              <a:t>La solucion debe ser simple, guiada, visual y posible de probar por etapas.</a:t>
            </a:r>
            <a:endParaRPr lang="es-CL" sz="1350" noProof="1"/>
          </a:p>
        </p:txBody>
      </p:sp>
      <p:sp>
        <p:nvSpPr>
          <p:cNvPr id="15" name="Text 12"/>
          <p:cNvSpPr/>
          <p:nvPr/>
        </p:nvSpPr>
        <p:spPr>
          <a:xfrm>
            <a:off x="7498080" y="1444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700" b="1" noProof="1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de la propuesta</a:t>
            </a:r>
            <a:endParaRPr lang="es-CL" sz="1700" noProof="1"/>
          </a:p>
        </p:txBody>
      </p:sp>
      <p:sp>
        <p:nvSpPr>
          <p:cNvPr id="16" name="Text 13"/>
          <p:cNvSpPr/>
          <p:nvPr/>
        </p:nvSpPr>
        <p:spPr>
          <a:xfrm>
            <a:off x="7498080" y="1920240"/>
            <a:ext cx="34290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s-CL" sz="17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Pasar del cuaderno y la memoria a una herramienta que permita registrar, visualizar y decidir con informacion clara.</a:t>
            </a:r>
            <a:endParaRPr lang="es-CL" sz="1700" noProof="1"/>
          </a:p>
        </p:txBody>
      </p:sp>
      <p:sp>
        <p:nvSpPr>
          <p:cNvPr id="17" name="Text 14"/>
          <p:cNvSpPr/>
          <p:nvPr/>
        </p:nvSpPr>
        <p:spPr>
          <a:xfrm>
            <a:off x="7498080" y="3703320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s-CL" sz="1320" noProof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no busca reemplazar la forma de trabajo de golpe, sino acompañarla con una herramienta cercana y facil de usar.</a:t>
            </a:r>
            <a:endParaRPr lang="es-CL" sz="132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3" name="Text 1"/>
          <p:cNvSpPr/>
          <p:nvPr/>
        </p:nvSpPr>
        <p:spPr>
          <a:xfrm>
            <a:off x="9646920" y="6400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1">
                <a:solidFill>
                  <a:srgbClr val="9CA3AF"/>
                </a:solidFill>
              </a:rPr>
              <a:t>Evaluacion 2</a:t>
            </a:r>
            <a:endParaRPr lang="es-CL" sz="800" noProof="1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noProof="1">
                <a:solidFill>
                  <a:srgbClr val="9CA3AF"/>
                </a:solidFill>
              </a:rPr>
              <a:t>REDEFINICION DEL DESAFIO</a:t>
            </a:r>
            <a:endParaRPr lang="es-CL" sz="800" noProof="1"/>
          </a:p>
        </p:txBody>
      </p:sp>
      <p:pic>
        <p:nvPicPr>
          <p:cNvPr id="5" name="Image 0" descr="/mnt/data/extracted_ppt/ppt/media/image-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9111"/>
            <a:ext cx="1097280" cy="301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4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Redefinicion del desafio</a:t>
            </a:r>
            <a:endParaRPr lang="es-CL" sz="2800" noProof="1"/>
          </a:p>
        </p:txBody>
      </p:sp>
      <p:sp>
        <p:nvSpPr>
          <p:cNvPr id="7" name="Text 4"/>
          <p:cNvSpPr/>
          <p:nvPr/>
        </p:nvSpPr>
        <p:spPr>
          <a:xfrm>
            <a:off x="704088" y="8412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noProof="1">
                <a:solidFill>
                  <a:srgbClr val="6B7280"/>
                </a:solidFill>
              </a:rPr>
              <a:t>Sintesis del problema detectado en micro y pequenas organizaciones de La Araucania.</a:t>
            </a:r>
            <a:endParaRPr lang="es-CL" sz="1200" noProof="1"/>
          </a:p>
        </p:txBody>
      </p:sp>
      <p:sp>
        <p:nvSpPr>
          <p:cNvPr id="8" name="Text 5"/>
          <p:cNvSpPr/>
          <p:nvPr/>
        </p:nvSpPr>
        <p:spPr>
          <a:xfrm>
            <a:off x="786384" y="1325880"/>
            <a:ext cx="7315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2794" tIns="2794" rIns="2794" bIns="2794" rtlCol="0" anchor="ctr">
            <a:normAutofit/>
          </a:bodyPr>
          <a:lstStyle/>
          <a:p>
            <a:pPr marL="0" indent="0" algn="l">
              <a:buNone/>
            </a:pPr>
            <a:r>
              <a:rPr lang="es-CL" sz="19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¿Como podriamos diseñar una solucion tecnologica simple, accesible, guiada y escalable para micro y pequenas organizaciones de La Araucania, que permita registrar, centralizar, visualizar y aprovechar sus datos de ventas e inventario, incluso en contextos con limitaciones de conectividad o el uso de herramientas digitales, para mejorar la toma de decisiones y fortalecer su competitividad?</a:t>
            </a:r>
            <a:endParaRPr lang="es-CL" sz="1900" noProof="1"/>
          </a:p>
        </p:txBody>
      </p:sp>
      <p:sp>
        <p:nvSpPr>
          <p:cNvPr id="9" name="Text 6"/>
          <p:cNvSpPr/>
          <p:nvPr/>
        </p:nvSpPr>
        <p:spPr>
          <a:xfrm>
            <a:off x="8366760" y="1353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500" b="1" noProof="1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Intencion principal</a:t>
            </a:r>
            <a:endParaRPr lang="es-CL" sz="1500" noProof="1"/>
          </a:p>
        </p:txBody>
      </p:sp>
      <p:sp>
        <p:nvSpPr>
          <p:cNvPr id="10" name="Shape 7"/>
          <p:cNvSpPr/>
          <p:nvPr/>
        </p:nvSpPr>
        <p:spPr>
          <a:xfrm>
            <a:off x="8375904" y="1883664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1" name="Text 8"/>
          <p:cNvSpPr/>
          <p:nvPr/>
        </p:nvSpPr>
        <p:spPr>
          <a:xfrm>
            <a:off x="8613648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1">
                <a:solidFill>
                  <a:srgbClr val="111827"/>
                </a:solidFill>
              </a:rPr>
              <a:t>Registrar datos de manera simple</a:t>
            </a:r>
            <a:endParaRPr lang="es-CL" sz="1150" noProof="1"/>
          </a:p>
        </p:txBody>
      </p:sp>
      <p:sp>
        <p:nvSpPr>
          <p:cNvPr id="12" name="Shape 9"/>
          <p:cNvSpPr/>
          <p:nvPr/>
        </p:nvSpPr>
        <p:spPr>
          <a:xfrm>
            <a:off x="8375904" y="2523744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3" name="Text 10"/>
          <p:cNvSpPr/>
          <p:nvPr/>
        </p:nvSpPr>
        <p:spPr>
          <a:xfrm>
            <a:off x="8613648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1">
                <a:solidFill>
                  <a:srgbClr val="111827"/>
                </a:solidFill>
              </a:rPr>
              <a:t>Centralizar ventas e inventario</a:t>
            </a:r>
            <a:endParaRPr lang="es-CL" sz="1150" noProof="1"/>
          </a:p>
        </p:txBody>
      </p:sp>
      <p:sp>
        <p:nvSpPr>
          <p:cNvPr id="14" name="Shape 11"/>
          <p:cNvSpPr/>
          <p:nvPr/>
        </p:nvSpPr>
        <p:spPr>
          <a:xfrm>
            <a:off x="8375904" y="3163824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5" name="Text 12"/>
          <p:cNvSpPr/>
          <p:nvPr/>
        </p:nvSpPr>
        <p:spPr>
          <a:xfrm>
            <a:off x="8613648" y="31089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1">
                <a:solidFill>
                  <a:srgbClr val="111827"/>
                </a:solidFill>
              </a:rPr>
              <a:t>Visualizar informacion util para decidir</a:t>
            </a:r>
            <a:endParaRPr lang="es-CL" sz="1150" noProof="1"/>
          </a:p>
        </p:txBody>
      </p:sp>
      <p:sp>
        <p:nvSpPr>
          <p:cNvPr id="16" name="Shape 13"/>
          <p:cNvSpPr/>
          <p:nvPr/>
        </p:nvSpPr>
        <p:spPr>
          <a:xfrm>
            <a:off x="8375904" y="3803904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7" name="Text 14"/>
          <p:cNvSpPr/>
          <p:nvPr/>
        </p:nvSpPr>
        <p:spPr>
          <a:xfrm>
            <a:off x="8613648" y="3749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1">
                <a:solidFill>
                  <a:srgbClr val="111827"/>
                </a:solidFill>
              </a:rPr>
              <a:t>Funcionar aun con conectividad limitada</a:t>
            </a:r>
            <a:endParaRPr lang="es-CL" sz="1150" noProof="1"/>
          </a:p>
        </p:txBody>
      </p:sp>
      <p:sp>
        <p:nvSpPr>
          <p:cNvPr id="18" name="Text 15"/>
          <p:cNvSpPr/>
          <p:nvPr/>
        </p:nvSpPr>
        <p:spPr>
          <a:xfrm>
            <a:off x="8366760" y="4736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s-CL" sz="14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Palabras clave del desafio</a:t>
            </a:r>
            <a:endParaRPr lang="es-CL" sz="1400" noProof="1"/>
          </a:p>
        </p:txBody>
      </p:sp>
      <p:sp>
        <p:nvSpPr>
          <p:cNvPr id="19" name="Text 16"/>
          <p:cNvSpPr/>
          <p:nvPr/>
        </p:nvSpPr>
        <p:spPr>
          <a:xfrm>
            <a:off x="8366760" y="5084064"/>
            <a:ext cx="128016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CL" sz="105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</a:t>
            </a:r>
            <a:endParaRPr lang="es-CL" sz="1050" noProof="1"/>
          </a:p>
        </p:txBody>
      </p:sp>
      <p:sp>
        <p:nvSpPr>
          <p:cNvPr id="20" name="Text 17"/>
          <p:cNvSpPr/>
          <p:nvPr/>
        </p:nvSpPr>
        <p:spPr>
          <a:xfrm>
            <a:off x="9829800" y="5084064"/>
            <a:ext cx="128016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CL" sz="105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Accesible</a:t>
            </a:r>
            <a:endParaRPr lang="es-CL" sz="1050" noProof="1"/>
          </a:p>
        </p:txBody>
      </p:sp>
      <p:sp>
        <p:nvSpPr>
          <p:cNvPr id="21" name="Text 18"/>
          <p:cNvSpPr/>
          <p:nvPr/>
        </p:nvSpPr>
        <p:spPr>
          <a:xfrm>
            <a:off x="8366760" y="5522976"/>
            <a:ext cx="128016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CL" sz="105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Guiada</a:t>
            </a:r>
            <a:endParaRPr lang="es-CL" sz="1050" noProof="1"/>
          </a:p>
        </p:txBody>
      </p:sp>
      <p:sp>
        <p:nvSpPr>
          <p:cNvPr id="22" name="Text 19"/>
          <p:cNvSpPr/>
          <p:nvPr/>
        </p:nvSpPr>
        <p:spPr>
          <a:xfrm>
            <a:off x="9829800" y="5522976"/>
            <a:ext cx="128016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CL" sz="1050" b="1" noProof="1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s-CL" sz="1050" noProof="1"/>
          </a:p>
        </p:txBody>
      </p:sp>
      <p:sp>
        <p:nvSpPr>
          <p:cNvPr id="23" name="Text 20"/>
          <p:cNvSpPr/>
          <p:nvPr/>
        </p:nvSpPr>
        <p:spPr>
          <a:xfrm>
            <a:off x="8366760" y="5961888"/>
            <a:ext cx="128016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CL" sz="105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Escalable</a:t>
            </a:r>
            <a:endParaRPr lang="es-CL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3" name="Text 1"/>
          <p:cNvSpPr/>
          <p:nvPr/>
        </p:nvSpPr>
        <p:spPr>
          <a:xfrm>
            <a:off x="9646920" y="6400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1">
                <a:solidFill>
                  <a:srgbClr val="9CA3AF"/>
                </a:solidFill>
              </a:rPr>
              <a:t>Evaluacion 2</a:t>
            </a:r>
            <a:endParaRPr lang="es-CL" sz="800" noProof="1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noProof="1">
                <a:solidFill>
                  <a:srgbClr val="9CA3AF"/>
                </a:solidFill>
              </a:rPr>
              <a:t>LLUVIA DE IDEAS</a:t>
            </a:r>
            <a:endParaRPr lang="es-CL" sz="800" noProof="1"/>
          </a:p>
        </p:txBody>
      </p:sp>
      <p:pic>
        <p:nvPicPr>
          <p:cNvPr id="5" name="Image 0" descr="/mnt/data/extracted_ppt/ppt/media/image-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9111"/>
            <a:ext cx="1097280" cy="301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4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Lluvia de ideas: cuadrante + factible / + original</a:t>
            </a:r>
            <a:endParaRPr lang="es-CL" sz="2800" noProof="1"/>
          </a:p>
        </p:txBody>
      </p:sp>
      <p:sp>
        <p:nvSpPr>
          <p:cNvPr id="7" name="Text 4"/>
          <p:cNvSpPr/>
          <p:nvPr/>
        </p:nvSpPr>
        <p:spPr>
          <a:xfrm>
            <a:off x="704088" y="8412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noProof="1">
                <a:solidFill>
                  <a:srgbClr val="6B7280"/>
                </a:solidFill>
              </a:rPr>
              <a:t>Se utiliza la imagen correcta del trabajo en clases para evidenciar la clasificacion por factibilidad y originalidad.</a:t>
            </a:r>
            <a:endParaRPr lang="es-CL" sz="1200" noProof="1"/>
          </a:p>
        </p:txBody>
      </p:sp>
      <p:pic>
        <p:nvPicPr>
          <p:cNvPr id="8" name="Image 1" descr="/mnt/data/extracted_ppt/ppt/media/image-3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27307"/>
            <a:ext cx="5532120" cy="41349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1353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500" b="1" noProof="1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seleccionadas del cuadrante</a:t>
            </a:r>
            <a:endParaRPr lang="es-CL" sz="1500" noProof="1"/>
          </a:p>
        </p:txBody>
      </p:sp>
      <p:sp>
        <p:nvSpPr>
          <p:cNvPr id="10" name="Shape 6"/>
          <p:cNvSpPr/>
          <p:nvPr/>
        </p:nvSpPr>
        <p:spPr>
          <a:xfrm>
            <a:off x="6565392" y="1828800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1" name="Text 7"/>
          <p:cNvSpPr/>
          <p:nvPr/>
        </p:nvSpPr>
        <p:spPr>
          <a:xfrm>
            <a:off x="6784848" y="1783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noProof="1">
                <a:solidFill>
                  <a:srgbClr val="111827"/>
                </a:solidFill>
              </a:rPr>
              <a:t>App simple de registro de ventas</a:t>
            </a:r>
            <a:endParaRPr lang="es-CL" sz="1130" noProof="1"/>
          </a:p>
        </p:txBody>
      </p:sp>
      <p:sp>
        <p:nvSpPr>
          <p:cNvPr id="12" name="Shape 8"/>
          <p:cNvSpPr/>
          <p:nvPr/>
        </p:nvSpPr>
        <p:spPr>
          <a:xfrm>
            <a:off x="6565392" y="2267712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3" name="Text 9"/>
          <p:cNvSpPr/>
          <p:nvPr/>
        </p:nvSpPr>
        <p:spPr>
          <a:xfrm>
            <a:off x="6784848" y="2221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noProof="1">
                <a:solidFill>
                  <a:srgbClr val="111827"/>
                </a:solidFill>
              </a:rPr>
              <a:t>Modo offline</a:t>
            </a:r>
            <a:endParaRPr lang="es-CL" sz="1130" noProof="1"/>
          </a:p>
        </p:txBody>
      </p:sp>
      <p:sp>
        <p:nvSpPr>
          <p:cNvPr id="14" name="Shape 10"/>
          <p:cNvSpPr/>
          <p:nvPr/>
        </p:nvSpPr>
        <p:spPr>
          <a:xfrm>
            <a:off x="6565392" y="2706624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5" name="Text 11"/>
          <p:cNvSpPr/>
          <p:nvPr/>
        </p:nvSpPr>
        <p:spPr>
          <a:xfrm>
            <a:off x="6784848" y="26609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noProof="1">
                <a:solidFill>
                  <a:srgbClr val="111827"/>
                </a:solidFill>
              </a:rPr>
              <a:t>Generador de reportes con un click</a:t>
            </a:r>
            <a:endParaRPr lang="es-CL" sz="1130" noProof="1"/>
          </a:p>
        </p:txBody>
      </p:sp>
      <p:sp>
        <p:nvSpPr>
          <p:cNvPr id="16" name="Shape 12"/>
          <p:cNvSpPr/>
          <p:nvPr/>
        </p:nvSpPr>
        <p:spPr>
          <a:xfrm>
            <a:off x="6565392" y="3145536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7" name="Text 13"/>
          <p:cNvSpPr/>
          <p:nvPr/>
        </p:nvSpPr>
        <p:spPr>
          <a:xfrm>
            <a:off x="6784848" y="30998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noProof="1">
                <a:solidFill>
                  <a:srgbClr val="111827"/>
                </a:solidFill>
              </a:rPr>
              <a:t>Sistema de seguridad y respaldo</a:t>
            </a:r>
            <a:endParaRPr lang="es-CL" sz="1130" noProof="1"/>
          </a:p>
        </p:txBody>
      </p:sp>
      <p:sp>
        <p:nvSpPr>
          <p:cNvPr id="18" name="Shape 14"/>
          <p:cNvSpPr/>
          <p:nvPr/>
        </p:nvSpPr>
        <p:spPr>
          <a:xfrm>
            <a:off x="6565392" y="3584448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9" name="Text 15"/>
          <p:cNvSpPr/>
          <p:nvPr/>
        </p:nvSpPr>
        <p:spPr>
          <a:xfrm>
            <a:off x="6784848" y="3538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noProof="1">
                <a:solidFill>
                  <a:srgbClr val="111827"/>
                </a:solidFill>
              </a:rPr>
              <a:t>Alerta de producto vencido</a:t>
            </a:r>
            <a:endParaRPr lang="es-CL" sz="1130" noProof="1"/>
          </a:p>
        </p:txBody>
      </p:sp>
      <p:sp>
        <p:nvSpPr>
          <p:cNvPr id="20" name="Shape 16"/>
          <p:cNvSpPr/>
          <p:nvPr/>
        </p:nvSpPr>
        <p:spPr>
          <a:xfrm>
            <a:off x="6565392" y="4023360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21" name="Text 17"/>
          <p:cNvSpPr/>
          <p:nvPr/>
        </p:nvSpPr>
        <p:spPr>
          <a:xfrm>
            <a:off x="6784848" y="39776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noProof="1">
                <a:solidFill>
                  <a:srgbClr val="111827"/>
                </a:solidFill>
              </a:rPr>
              <a:t>Sistema progresivo</a:t>
            </a:r>
            <a:endParaRPr lang="es-CL" sz="1130" noProof="1"/>
          </a:p>
        </p:txBody>
      </p:sp>
      <p:sp>
        <p:nvSpPr>
          <p:cNvPr id="22" name="Text 18"/>
          <p:cNvSpPr/>
          <p:nvPr/>
        </p:nvSpPr>
        <p:spPr>
          <a:xfrm>
            <a:off x="65379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4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de seleccion</a:t>
            </a:r>
            <a:endParaRPr lang="es-CL" sz="1400" noProof="1"/>
          </a:p>
        </p:txBody>
      </p:sp>
      <p:sp>
        <p:nvSpPr>
          <p:cNvPr id="23" name="Text 19"/>
          <p:cNvSpPr/>
          <p:nvPr/>
        </p:nvSpPr>
        <p:spPr>
          <a:xfrm>
            <a:off x="6537960" y="4590288"/>
            <a:ext cx="4754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s-CL" sz="1220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eligieron las ideas mas coherentes con el desafio: registrar ventas, trabajar sin internet, entregar reportes simples, proteger la informacion y permitir que la solucion crezca por etapas.</a:t>
            </a:r>
            <a:endParaRPr lang="es-CL" sz="122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3" name="Text 1"/>
          <p:cNvSpPr/>
          <p:nvPr/>
        </p:nvSpPr>
        <p:spPr>
          <a:xfrm>
            <a:off x="9646920" y="6400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1">
                <a:solidFill>
                  <a:srgbClr val="9CA3AF"/>
                </a:solidFill>
              </a:rPr>
              <a:t>Evaluacion 2</a:t>
            </a:r>
            <a:endParaRPr lang="es-CL" sz="800" noProof="1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noProof="1">
                <a:solidFill>
                  <a:srgbClr val="9CA3AF"/>
                </a:solidFill>
              </a:rPr>
              <a:t>PANEL DE METAFORAS Y ATRIBUTOS</a:t>
            </a:r>
            <a:endParaRPr lang="es-CL" sz="800" noProof="1"/>
          </a:p>
        </p:txBody>
      </p:sp>
      <p:pic>
        <p:nvPicPr>
          <p:cNvPr id="5" name="Image 0" descr="/mnt/data/extracted_ppt/ppt/media/image-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9111"/>
            <a:ext cx="1097280" cy="301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4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de metaforas y atributos</a:t>
            </a:r>
            <a:endParaRPr lang="es-CL" sz="2800" noProof="1"/>
          </a:p>
        </p:txBody>
      </p:sp>
      <p:sp>
        <p:nvSpPr>
          <p:cNvPr id="7" name="Text 4"/>
          <p:cNvSpPr/>
          <p:nvPr/>
        </p:nvSpPr>
        <p:spPr>
          <a:xfrm>
            <a:off x="704088" y="8412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noProof="1">
                <a:solidFill>
                  <a:srgbClr val="6B7280"/>
                </a:solidFill>
              </a:rPr>
              <a:t>Conceptualizacion de la solucion innovadora a partir de una metafora central y atributos vinculados a las necesidades del usuario.</a:t>
            </a:r>
            <a:endParaRPr lang="es-CL" sz="1200" noProof="1"/>
          </a:p>
        </p:txBody>
      </p:sp>
      <p:pic>
        <p:nvPicPr>
          <p:cNvPr id="8" name="Image 1" descr="/mnt/data/extracted_ppt/ppt/media/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58252"/>
            <a:ext cx="6537960" cy="3655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500" b="1" noProof="1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Metafora principal</a:t>
            </a:r>
            <a:endParaRPr lang="es-CL" sz="1500" noProof="1"/>
          </a:p>
        </p:txBody>
      </p:sp>
      <p:sp>
        <p:nvSpPr>
          <p:cNvPr id="10" name="Text 6"/>
          <p:cNvSpPr/>
          <p:nvPr/>
        </p:nvSpPr>
        <p:spPr>
          <a:xfrm>
            <a:off x="7543800" y="1755648"/>
            <a:ext cx="374904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s-CL" sz="19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cuaderno con superpoderes”</a:t>
            </a:r>
            <a:endParaRPr lang="es-CL" sz="1900" noProof="1"/>
          </a:p>
        </p:txBody>
      </p:sp>
      <p:sp>
        <p:nvSpPr>
          <p:cNvPr id="11" name="Text 7"/>
          <p:cNvSpPr/>
          <p:nvPr/>
        </p:nvSpPr>
        <p:spPr>
          <a:xfrm>
            <a:off x="7543800" y="2359152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s-CL" sz="1260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mantiene la cercania de un cuaderno tradicional, pero agrega orden, alertas, reportes y respaldo de informacion para apoyar decisiones rapidas.</a:t>
            </a:r>
            <a:endParaRPr lang="es-CL" sz="1260" noProof="1"/>
          </a:p>
        </p:txBody>
      </p:sp>
      <p:sp>
        <p:nvSpPr>
          <p:cNvPr id="12" name="Text 8"/>
          <p:cNvSpPr/>
          <p:nvPr/>
        </p:nvSpPr>
        <p:spPr>
          <a:xfrm>
            <a:off x="754380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4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 clave</a:t>
            </a:r>
            <a:endParaRPr lang="es-CL" sz="1400" noProof="1"/>
          </a:p>
        </p:txBody>
      </p:sp>
      <p:sp>
        <p:nvSpPr>
          <p:cNvPr id="13" name="Text 9"/>
          <p:cNvSpPr/>
          <p:nvPr/>
        </p:nvSpPr>
        <p:spPr>
          <a:xfrm>
            <a:off x="7543800" y="3840480"/>
            <a:ext cx="379476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bota la data</a:t>
            </a:r>
            <a:endParaRPr lang="es-CL" sz="1100" noProof="1"/>
          </a:p>
        </p:txBody>
      </p:sp>
      <p:sp>
        <p:nvSpPr>
          <p:cNvPr id="14" name="Text 10"/>
          <p:cNvSpPr/>
          <p:nvPr/>
        </p:nvSpPr>
        <p:spPr>
          <a:xfrm>
            <a:off x="7543800" y="4297680"/>
            <a:ext cx="379476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secreto del meson</a:t>
            </a:r>
            <a:endParaRPr lang="es-CL" sz="1100" noProof="1"/>
          </a:p>
        </p:txBody>
      </p:sp>
      <p:sp>
        <p:nvSpPr>
          <p:cNvPr id="15" name="Text 11"/>
          <p:cNvSpPr/>
          <p:nvPr/>
        </p:nvSpPr>
        <p:spPr>
          <a:xfrm>
            <a:off x="7543800" y="4754880"/>
            <a:ext cx="379476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 avisa antes que falte</a:t>
            </a:r>
            <a:endParaRPr lang="es-CL" sz="1100" noProof="1"/>
          </a:p>
        </p:txBody>
      </p:sp>
      <p:sp>
        <p:nvSpPr>
          <p:cNvPr id="16" name="Text 12"/>
          <p:cNvSpPr/>
          <p:nvPr/>
        </p:nvSpPr>
        <p:spPr>
          <a:xfrm>
            <a:off x="7543800" y="5212080"/>
            <a:ext cx="379476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Amigable desde el dia uno</a:t>
            </a:r>
            <a:endParaRPr lang="es-CL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3" name="Text 1"/>
          <p:cNvSpPr/>
          <p:nvPr/>
        </p:nvSpPr>
        <p:spPr>
          <a:xfrm>
            <a:off x="9646920" y="6400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1">
                <a:solidFill>
                  <a:srgbClr val="9CA3AF"/>
                </a:solidFill>
              </a:rPr>
              <a:t>Evaluacion 2</a:t>
            </a:r>
            <a:endParaRPr lang="es-CL" sz="800" noProof="1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noProof="1">
                <a:solidFill>
                  <a:srgbClr val="9CA3AF"/>
                </a:solidFill>
              </a:rPr>
              <a:t>CONCLUSION</a:t>
            </a:r>
            <a:endParaRPr lang="es-CL" sz="800" noProof="1"/>
          </a:p>
        </p:txBody>
      </p:sp>
      <p:pic>
        <p:nvPicPr>
          <p:cNvPr id="5" name="Image 0" descr="/mnt/data/extracted_ppt/ppt/media/image-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9111"/>
            <a:ext cx="1097280" cy="301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4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s-CL" sz="2800" noProof="1"/>
          </a:p>
        </p:txBody>
      </p:sp>
      <p:sp>
        <p:nvSpPr>
          <p:cNvPr id="7" name="Text 4"/>
          <p:cNvSpPr/>
          <p:nvPr/>
        </p:nvSpPr>
        <p:spPr>
          <a:xfrm>
            <a:off x="704088" y="8412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noProof="1">
                <a:solidFill>
                  <a:srgbClr val="6B7280"/>
                </a:solidFill>
              </a:rPr>
              <a:t>.</a:t>
            </a:r>
            <a:endParaRPr lang="es-CL" sz="1200" noProof="1"/>
          </a:p>
        </p:txBody>
      </p:sp>
      <p:sp>
        <p:nvSpPr>
          <p:cNvPr id="8" name="Text 5"/>
          <p:cNvSpPr/>
          <p:nvPr/>
        </p:nvSpPr>
        <p:spPr>
          <a:xfrm>
            <a:off x="822960" y="1371600"/>
            <a:ext cx="6309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ctr">
            <a:normAutofit fontScale="92500"/>
          </a:bodyPr>
          <a:lstStyle/>
          <a:p>
            <a:pPr marL="0" indent="0" algn="l">
              <a:buNone/>
            </a:pPr>
            <a:r>
              <a:rPr lang="es-CL" sz="2000" b="1" noProof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final permite responder al desafio porque une simplicidad, utilidad y posibilidad de crecimiento.</a:t>
            </a:r>
            <a:endParaRPr lang="es-CL" sz="2000" noProof="1"/>
          </a:p>
        </p:txBody>
      </p:sp>
      <p:sp>
        <p:nvSpPr>
          <p:cNvPr id="9" name="Shape 6"/>
          <p:cNvSpPr/>
          <p:nvPr/>
        </p:nvSpPr>
        <p:spPr>
          <a:xfrm>
            <a:off x="914400" y="2587752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0" name="Text 7"/>
          <p:cNvSpPr/>
          <p:nvPr/>
        </p:nvSpPr>
        <p:spPr>
          <a:xfrm>
            <a:off x="1170432" y="25146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CL" sz="1400" noProof="1">
                <a:solidFill>
                  <a:srgbClr val="111827"/>
                </a:solidFill>
              </a:rPr>
              <a:t>Se enfoca en necesidades reales: ventas, inventario, reportes y decisiones rapidas.</a:t>
            </a:r>
            <a:endParaRPr lang="es-CL" sz="1400" noProof="1"/>
          </a:p>
        </p:txBody>
      </p:sp>
      <p:sp>
        <p:nvSpPr>
          <p:cNvPr id="11" name="Shape 8"/>
          <p:cNvSpPr/>
          <p:nvPr/>
        </p:nvSpPr>
        <p:spPr>
          <a:xfrm>
            <a:off x="914400" y="3163824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2" name="Text 9"/>
          <p:cNvSpPr/>
          <p:nvPr/>
        </p:nvSpPr>
        <p:spPr>
          <a:xfrm>
            <a:off x="1170432" y="30906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CL" sz="1400" noProof="1">
                <a:solidFill>
                  <a:srgbClr val="111827"/>
                </a:solidFill>
              </a:rPr>
              <a:t>Considera el contexto local: conectividad limitada y diferentes niveles de uso tecnologico.</a:t>
            </a:r>
            <a:endParaRPr lang="es-CL" sz="1400" noProof="1"/>
          </a:p>
        </p:txBody>
      </p:sp>
      <p:sp>
        <p:nvSpPr>
          <p:cNvPr id="13" name="Shape 10"/>
          <p:cNvSpPr/>
          <p:nvPr/>
        </p:nvSpPr>
        <p:spPr>
          <a:xfrm>
            <a:off x="914400" y="3739896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es-CL" noProof="1"/>
          </a:p>
        </p:txBody>
      </p:sp>
      <p:sp>
        <p:nvSpPr>
          <p:cNvPr id="14" name="Text 11"/>
          <p:cNvSpPr/>
          <p:nvPr/>
        </p:nvSpPr>
        <p:spPr>
          <a:xfrm>
            <a:off x="1170432" y="36667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CL" sz="1400" noProof="1">
                <a:solidFill>
                  <a:srgbClr val="111827"/>
                </a:solidFill>
              </a:rPr>
              <a:t>Es factible de prototipar, ya que puede comenzar con funciones basicas y crecer por modulos.</a:t>
            </a:r>
            <a:endParaRPr lang="es-CL" sz="1400" noProof="1"/>
          </a:p>
        </p:txBody>
      </p:sp>
      <p:sp>
        <p:nvSpPr>
          <p:cNvPr id="15" name="Text 12"/>
          <p:cNvSpPr/>
          <p:nvPr/>
        </p:nvSpPr>
        <p:spPr>
          <a:xfrm>
            <a:off x="7589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600" b="1" noProof="1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final</a:t>
            </a:r>
            <a:endParaRPr lang="es-CL" sz="1600" noProof="1"/>
          </a:p>
        </p:txBody>
      </p:sp>
      <p:sp>
        <p:nvSpPr>
          <p:cNvPr id="16" name="Text 13"/>
          <p:cNvSpPr/>
          <p:nvPr/>
        </p:nvSpPr>
        <p:spPr>
          <a:xfrm>
            <a:off x="7589520" y="1874520"/>
            <a:ext cx="3429000" cy="1417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s-CL" sz="1900" b="1" noProof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simple, guiado y visual que transforma datos cotidianos en informacion util para decidir.</a:t>
            </a:r>
            <a:endParaRPr lang="es-CL" sz="1900" noProof="1"/>
          </a:p>
        </p:txBody>
      </p:sp>
      <p:sp>
        <p:nvSpPr>
          <p:cNvPr id="17" name="Text 14"/>
          <p:cNvSpPr/>
          <p:nvPr/>
        </p:nvSpPr>
        <p:spPr>
          <a:xfrm>
            <a:off x="7589520" y="3794760"/>
            <a:ext cx="3429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s-CL" sz="1320" noProof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esto, la solucion no solo digitaliza registros, sino que ayuda a mejorar la gestion diaria del negocio.</a:t>
            </a:r>
            <a:endParaRPr lang="es-CL" sz="132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599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INACAP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Evaluacion 2 - Innovacion y Emprendimiento II</dc:title>
  <dc:subject>Evaluacion 2</dc:subject>
  <dc:creator>Nicolas Calbullanca</dc:creator>
  <cp:lastModifiedBy>NICOLAS ANDRES CALBULLANCA BAEZA</cp:lastModifiedBy>
  <cp:revision>3</cp:revision>
  <dcterms:created xsi:type="dcterms:W3CDTF">2026-05-11T10:24:02Z</dcterms:created>
  <dcterms:modified xsi:type="dcterms:W3CDTF">2026-05-11T11:02:29Z</dcterms:modified>
</cp:coreProperties>
</file>